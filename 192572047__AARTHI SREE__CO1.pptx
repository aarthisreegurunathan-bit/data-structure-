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68" r:id="rId1"/>
  </p:sldMasterIdLst>
  <p:sldIdLst>
    <p:sldId id="259" r:id="rId2"/>
    <p:sldId id="257" r:id="rId3"/>
    <p:sldId id="258" r:id="rId4"/>
    <p:sldId id="260" r:id="rId5"/>
    <p:sldId id="261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45000"/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-44450" ty="38100" sx="85000" sy="85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11" name="Rectangle 10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15" name="Rectangle 14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4" name="Group 3"/>
          <p:cNvGrpSpPr/>
          <p:nvPr/>
        </p:nvGrpSpPr>
        <p:grpSpPr>
          <a:xfrm>
            <a:off x="5250180" y="1267730"/>
            <a:ext cx="1691640" cy="645295"/>
            <a:chOff x="5318306" y="1386268"/>
            <a:chExt cx="1567331" cy="645295"/>
          </a:xfrm>
        </p:grpSpPr>
        <p:cxnSp>
          <p:nvCxnSpPr>
            <p:cNvPr id="17" name="Straight Connector 16"/>
            <p:cNvCxnSpPr/>
            <p:nvPr/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61708" y="2091263"/>
            <a:ext cx="9068586" cy="2590800"/>
          </a:xfrm>
        </p:spPr>
        <p:txBody>
          <a:bodyPr tIns="45720" bIns="45720" anchor="ctr">
            <a:noAutofit/>
          </a:bodyPr>
          <a:lstStyle>
            <a:lvl1pPr algn="ctr">
              <a:lnSpc>
                <a:spcPct val="83000"/>
              </a:lnSpc>
              <a:defRPr lang="en-US" sz="7200" b="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62100" y="4682062"/>
            <a:ext cx="9070848" cy="457201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 spc="8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0" name="Date Placeholder 19"/>
          <p:cNvSpPr>
            <a:spLocks noGrp="1"/>
          </p:cNvSpPr>
          <p:nvPr>
            <p:ph type="dt" sz="half" idx="10"/>
          </p:nvPr>
        </p:nvSpPr>
        <p:spPr>
          <a:xfrm>
            <a:off x="5318760" y="1341255"/>
            <a:ext cx="1554480" cy="527213"/>
          </a:xfrm>
        </p:spPr>
        <p:txBody>
          <a:bodyPr/>
          <a:lstStyle>
            <a:lvl1pPr algn="ctr">
              <a:defRPr sz="13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DDA51639-B2D6-4652-B8C3-1B4C224A7BAF}" type="datetimeFigureOut">
              <a:rPr lang="en-US" dirty="0"/>
              <a:t>7/28/2026</a:t>
            </a:fld>
            <a:endParaRPr lang="en-US" dirty="0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11"/>
          </p:nvPr>
        </p:nvSpPr>
        <p:spPr>
          <a:xfrm>
            <a:off x="1453896" y="5211060"/>
            <a:ext cx="5905500" cy="228600"/>
          </a:xfrm>
        </p:spPr>
        <p:txBody>
          <a:bodyPr/>
          <a:lstStyle>
            <a:lvl1pPr algn="l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12"/>
          </p:nvPr>
        </p:nvSpPr>
        <p:spPr>
          <a:xfrm>
            <a:off x="8606919" y="5212080"/>
            <a:ext cx="2111881" cy="22860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F5DD9-2C52-442D-92E2-8072C0C3D7CD}" type="datetimeFigureOut">
              <a:rPr lang="en-US" dirty="0"/>
              <a:t>7/28/2026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45000"/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tile tx="-44450" ty="38100" sx="85000" sy="85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3" name="Rectangle 22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24" name="Rectangle 23"/>
          <p:cNvSpPr/>
          <p:nvPr/>
        </p:nvSpPr>
        <p:spPr>
          <a:xfrm>
            <a:off x="1447800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30" name="Rectangle 29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31" name="Group 30"/>
          <p:cNvGrpSpPr/>
          <p:nvPr/>
        </p:nvGrpSpPr>
        <p:grpSpPr>
          <a:xfrm>
            <a:off x="5250180" y="1267730"/>
            <a:ext cx="1691640" cy="645295"/>
            <a:chOff x="5318306" y="1386268"/>
            <a:chExt cx="1567331" cy="645295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3623" y="2094309"/>
            <a:ext cx="9070848" cy="2587752"/>
          </a:xfrm>
        </p:spPr>
        <p:txBody>
          <a:bodyPr anchor="ctr">
            <a:noAutofit/>
          </a:bodyPr>
          <a:lstStyle>
            <a:lvl1pPr algn="ctr">
              <a:lnSpc>
                <a:spcPct val="83000"/>
              </a:lnSpc>
              <a:defRPr lang="en-US" sz="720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3624" y="4682062"/>
            <a:ext cx="9070848" cy="45720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>
                <a:solidFill>
                  <a:schemeClr val="tx1"/>
                </a:solidFill>
                <a:effectLst/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321808" y="1344502"/>
            <a:ext cx="1554480" cy="530352"/>
          </a:xfrm>
        </p:spPr>
        <p:txBody>
          <a:bodyPr/>
          <a:lstStyle>
            <a:lvl1pPr algn="ctr">
              <a:defRPr lang="en-US" sz="13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44961B7-6B89-48AB-966F-622E2788EECC}" type="datetimeFigureOut">
              <a:rPr lang="en-US" dirty="0"/>
              <a:t>7/28/2026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453553" y="5211060"/>
            <a:ext cx="5907024" cy="228600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04504" y="5211060"/>
            <a:ext cx="2112264" cy="228600"/>
          </a:xfrm>
        </p:spPr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6800" y="2103120"/>
            <a:ext cx="475488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70320" y="2103120"/>
            <a:ext cx="475488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3D6FB-79CC-4683-A046-BBE785BA1BED}" type="datetimeFigureOut">
              <a:rPr lang="en-US" dirty="0"/>
              <a:t>7/28/2026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074334"/>
            <a:ext cx="4754880" cy="640080"/>
          </a:xfrm>
        </p:spPr>
        <p:txBody>
          <a:bodyPr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900" b="0">
                <a:solidFill>
                  <a:schemeClr val="tx2"/>
                </a:solidFill>
                <a:latin typeface="+mn-lt"/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55898"/>
            <a:ext cx="4754880" cy="32004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73368" y="2074334"/>
            <a:ext cx="4754880" cy="640080"/>
          </a:xfrm>
        </p:spPr>
        <p:txBody>
          <a:bodyPr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900" b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73368" y="2756581"/>
            <a:ext cx="4754880" cy="32004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2B3E8-48F1-4B23-8498-D8A04A81EC9C}" type="datetimeFigureOut">
              <a:rPr lang="en-US" dirty="0"/>
              <a:t>7/28/2026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B90D90-AA62-404D-A741-635B4370F9CB}" type="datetimeFigureOut">
              <a:rPr lang="en-US" dirty="0"/>
              <a:t>7/28/2026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7002E4-6836-46D1-9DBB-3C27C0DD3A89}" type="datetimeFigureOut">
              <a:rPr lang="en-US" dirty="0"/>
              <a:t>7/28/2026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>
            <a:off x="245529" y="237744"/>
            <a:ext cx="8531352" cy="638251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9020386" y="237744"/>
            <a:ext cx="2926080" cy="63825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6400" y="607392"/>
            <a:ext cx="2430780" cy="164592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800" b="0" kern="1200" cap="none" spc="0" baseline="0" dirty="0">
                <a:solidFill>
                  <a:srgbClr val="FFFFFF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609600"/>
            <a:ext cx="7772400" cy="53340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96400" y="2286000"/>
            <a:ext cx="2430780" cy="3505200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800"/>
              </a:spcBef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F131DD-A141-4471-BCF9-C6073EDD7E20}" type="datetimeFigureOut">
              <a:rPr lang="en-US" dirty="0"/>
              <a:t>7/28/2026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r">
              <a:defRPr/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>
          <a:xfrm>
            <a:off x="10393677" y="6223002"/>
            <a:ext cx="1463040" cy="27432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9157546" y="374904"/>
            <a:ext cx="2651760" cy="6108192"/>
          </a:xfrm>
          <a:prstGeom prst="rect">
            <a:avLst/>
          </a:prstGeom>
          <a:noFill/>
          <a:ln w="63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9020386" y="237744"/>
            <a:ext cx="2926080" cy="63825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6400" y="603504"/>
            <a:ext cx="2432304" cy="1645920"/>
          </a:xfrm>
        </p:spPr>
        <p:txBody>
          <a:bodyPr anchor="b">
            <a:noAutofit/>
          </a:bodyPr>
          <a:lstStyle>
            <a:lvl1pPr algn="l">
              <a:defRPr sz="2800" b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28599" y="237744"/>
            <a:ext cx="8531352" cy="6382512"/>
          </a:xfr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96400" y="2286000"/>
            <a:ext cx="2432304" cy="3502152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spcBef>
                <a:spcPts val="800"/>
              </a:spcBef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12700" dist="635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fld id="{AB334A90-EB03-42F3-8859-2C2B2724C058}" type="datetimeFigureOut">
              <a:rPr lang="en-US" dirty="0"/>
              <a:t>7/28/2026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marL="0" algn="r" defTabSz="914400" rtl="0" eaLnBrk="1" latinLnBrk="0" hangingPunct="1">
              <a:defRPr lang="en-US" sz="1000" kern="1200" dirty="0">
                <a:solidFill>
                  <a:srgbClr val="FFFFFF"/>
                </a:solidFill>
                <a:effectLst>
                  <a:outerShdw blurRad="12700" dist="6350" dir="2700000" algn="tl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396728" y="6227064"/>
            <a:ext cx="1463040" cy="27432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0" name="Rectangle 9"/>
          <p:cNvSpPr/>
          <p:nvPr/>
        </p:nvSpPr>
        <p:spPr>
          <a:xfrm>
            <a:off x="9157546" y="374904"/>
            <a:ext cx="2651760" cy="6108192"/>
          </a:xfrm>
          <a:prstGeom prst="rect">
            <a:avLst/>
          </a:prstGeom>
          <a:noFill/>
          <a:ln w="63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A6AA8-A04B-4104-9AE2-BD48D340E27F}" type="datetimeFigureOut">
              <a:rPr lang="en-US" dirty="0"/>
              <a:t>7/28/2026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1600" y="762000"/>
            <a:ext cx="2362200" cy="5257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762000"/>
            <a:ext cx="8077200" cy="5257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0BF79-FAC6-4A96-8DE1-F7B82E2E1652}" type="datetimeFigureOut">
              <a:rPr lang="en-US" dirty="0"/>
              <a:t>7/28/2026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4696" y="237744"/>
            <a:ext cx="11722608" cy="6382512"/>
          </a:xfrm>
          <a:prstGeom prst="rect">
            <a:avLst/>
          </a:prstGeom>
          <a:solidFill>
            <a:schemeClr val="bg2"/>
          </a:solidFill>
          <a:ln w="6350" cap="flat" cmpd="sng" algn="ctr">
            <a:noFill/>
            <a:prstDash val="solid"/>
          </a:ln>
          <a:effectLst>
            <a:softEdge rad="0"/>
          </a:effectLst>
        </p:spPr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103120"/>
            <a:ext cx="10058400" cy="39319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74320" y="6307672"/>
            <a:ext cx="274320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CBC48EC7-AF6A-48D3-8284-14BACBEBDD84}" type="datetimeFigureOut">
              <a:rPr lang="en-US" dirty="0"/>
              <a:t>7/28/2026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89960" y="6307672"/>
            <a:ext cx="521208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6307672"/>
            <a:ext cx="146304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4800" kern="1200" cap="none" spc="0" baseline="0" dirty="0"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n-ea"/>
          <a:cs typeface="+mn-cs"/>
        </a:defRPr>
      </a:lvl1pPr>
    </p:titleStyle>
    <p:bodyStyle>
      <a:lvl1pPr marL="182880" indent="-182880" algn="l" defTabSz="914400" rtl="0" eaLnBrk="1" latinLnBrk="0" hangingPunct="1">
        <a:lnSpc>
          <a:spcPct val="100000"/>
        </a:lnSpc>
        <a:spcBef>
          <a:spcPts val="900"/>
        </a:spcBef>
        <a:spcAft>
          <a:spcPts val="0"/>
        </a:spcAft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E0B61-6D9A-991E-D013-F2598A5A19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61708" y="2091263"/>
            <a:ext cx="9068586" cy="2008789"/>
          </a:xfrm>
        </p:spPr>
        <p:txBody>
          <a:bodyPr/>
          <a:lstStyle/>
          <a:p>
            <a:r>
              <a:rPr lang="en-IN" sz="2800" dirty="0">
                <a:latin typeface="Algerian" panose="04020705040A02060702" pitchFamily="82" charset="0"/>
              </a:rPr>
              <a:t>A metro rail network maps stations and routes to determine reachable stations from a source station. Suggest a suitable data structure for representation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B243FD-7252-7DE6-2938-D3EE84D4CD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78761" y="4682062"/>
            <a:ext cx="2354186" cy="765009"/>
          </a:xfrm>
        </p:spPr>
        <p:txBody>
          <a:bodyPr/>
          <a:lstStyle/>
          <a:p>
            <a:r>
              <a:rPr lang="en-US" dirty="0"/>
              <a:t>AARTHI SREE.G</a:t>
            </a:r>
          </a:p>
          <a:p>
            <a:r>
              <a:rPr lang="en-US" dirty="0"/>
              <a:t>(192572047)</a:t>
            </a:r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FB9F59-A141-CAE4-BC35-ACC847E66F12}"/>
              </a:ext>
            </a:extLst>
          </p:cNvPr>
          <p:cNvSpPr txBox="1"/>
          <p:nvPr/>
        </p:nvSpPr>
        <p:spPr>
          <a:xfrm>
            <a:off x="4247536" y="255639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CSA-0305  DATA STRUCTURES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476632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F8B3D4-68B6-0E5E-E4B2-5528F67879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82064" y="642594"/>
            <a:ext cx="7143135" cy="822412"/>
          </a:xfrm>
        </p:spPr>
        <p:txBody>
          <a:bodyPr/>
          <a:lstStyle/>
          <a:p>
            <a:r>
              <a:rPr lang="en-IN" dirty="0">
                <a:latin typeface="Algerian" panose="04020705040A02060702" pitchFamily="82" charset="0"/>
              </a:rPr>
              <a:t>Abstract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3E8DB6-399D-1778-A2BC-681E3F54F4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5406" y="1730477"/>
            <a:ext cx="10269794" cy="4304563"/>
          </a:xfrm>
        </p:spPr>
        <p:txBody>
          <a:bodyPr>
            <a:normAutofit/>
          </a:bodyPr>
          <a:lstStyle/>
          <a:p>
            <a:pPr lvl="0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metro rail network consists of stations connected by railway routes. </a:t>
            </a:r>
          </a:p>
          <a:p>
            <a:pPr lvl="0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suitable data structure is needed to represent stations and their connections efficiently. </a:t>
            </a:r>
          </a:p>
          <a:p>
            <a:pPr lvl="0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Graph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the most appropriate data structure for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metro network. </a:t>
            </a:r>
          </a:p>
          <a:p>
            <a:pPr lvl="0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a graph,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stations are represented as vertices (nodes)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routes are represented as edges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lvl="0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Graphs help determine all stations that are reachable from a given source station. </a:t>
            </a:r>
          </a:p>
          <a:p>
            <a:pPr lvl="0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Graph traversal algorithms such as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Breadth-First Search (BFS)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Depth-First Search (DFS)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are used to find reachable stations. </a:t>
            </a:r>
          </a:p>
          <a:p>
            <a:pPr lvl="0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representation supports efficient route planning, connectivity analysis, and network management. </a:t>
            </a:r>
          </a:p>
          <a:p>
            <a:pPr lvl="0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Graph-based models are widely used in real-world metro navigation and transportation systems. 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525237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AB985-8A15-C6C1-87E2-16BCF37E1F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0452" y="642594"/>
            <a:ext cx="7634748" cy="1371600"/>
          </a:xfrm>
        </p:spPr>
        <p:txBody>
          <a:bodyPr/>
          <a:lstStyle/>
          <a:p>
            <a:r>
              <a:rPr lang="en-US" dirty="0">
                <a:latin typeface="Algerian" panose="04020705040A02060702" pitchFamily="82" charset="0"/>
              </a:rPr>
              <a:t>INTRODUCTION</a:t>
            </a:r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4A90A-B476-0B87-D3E7-75C206E6B6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metro rail network contains many stations connected through different routes. </a:t>
            </a:r>
          </a:p>
          <a:p>
            <a:pPr lvl="0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store and manage these connections efficiently, an appropriate data structure is required. </a:t>
            </a:r>
          </a:p>
          <a:p>
            <a:pPr lvl="0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Graph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the best data structure because it naturally represents stations and their connections. </a:t>
            </a:r>
          </a:p>
          <a:p>
            <a:pPr lvl="0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a graph: </a:t>
            </a:r>
          </a:p>
          <a:p>
            <a:pPr lvl="1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Vertices (Nodes)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represent metro stations. </a:t>
            </a:r>
          </a:p>
          <a:p>
            <a:pPr lvl="1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Edges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represent railway routes between stations. </a:t>
            </a:r>
          </a:p>
          <a:p>
            <a:pPr lvl="0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Graph algorithms such as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Breadth-First Search (BFS)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Depth-First Search (DFS)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help determine which stations are reachable from a given source station. </a:t>
            </a:r>
          </a:p>
          <a:p>
            <a:pPr lvl="0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representation improves route planning, connectivity analysis, and overall network management.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746038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8490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1D5CF-514D-7681-F28D-E8F7FC9730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Algerian" panose="04020705040A02060702" pitchFamily="82" charset="0"/>
              </a:rPr>
              <a:t>THANK YOU</a:t>
            </a:r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FCC8D0-4584-534F-0A53-BFF84401EA8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1805883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avon">
  <a:themeElements>
    <a:clrScheme name="Savon">
      <a:dk1>
        <a:sysClr val="windowText" lastClr="000000"/>
      </a:dk1>
      <a:lt1>
        <a:sysClr val="window" lastClr="FFFFFF"/>
      </a:lt1>
      <a:dk2>
        <a:srgbClr val="1485A4"/>
      </a:dk2>
      <a:lt2>
        <a:srgbClr val="E3DED1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F49100"/>
      </a:hlink>
      <a:folHlink>
        <a:srgbClr val="739D9B"/>
      </a:folHlink>
    </a:clrScheme>
    <a:fontScheme name="Savon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Savo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5000"/>
                <a:lumMod val="105000"/>
              </a:schemeClr>
            </a:gs>
            <a:gs pos="100000">
              <a:schemeClr val="phClr">
                <a:tint val="65000"/>
                <a:satMod val="100000"/>
                <a:lumMod val="10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0000"/>
                <a:lumMod val="100000"/>
              </a:schemeClr>
            </a:gs>
            <a:gs pos="50000">
              <a:schemeClr val="phClr">
                <a:shade val="99000"/>
                <a:satMod val="105000"/>
                <a:lumMod val="100000"/>
              </a:schemeClr>
            </a:gs>
            <a:gs pos="100000">
              <a:schemeClr val="phClr">
                <a:shade val="98000"/>
                <a:satMod val="105000"/>
                <a:lumMod val="100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12700" dir="5400000" algn="ctr" rotWithShape="0">
              <a:srgbClr val="000000">
                <a:alpha val="63000"/>
              </a:srgbClr>
            </a:outerShdw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4200000"/>
            </a:lightRig>
          </a:scene3d>
          <a:sp3d prstMaterial="flat">
            <a:bevelT w="50800" h="63500" prst="rible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2000"/>
                <a:satMod val="160000"/>
              </a:schemeClr>
            </a:gs>
            <a:gs pos="77000">
              <a:schemeClr val="phClr">
                <a:tint val="100000"/>
                <a:shade val="73000"/>
                <a:satMod val="155000"/>
              </a:schemeClr>
            </a:gs>
            <a:gs pos="100000">
              <a:schemeClr val="phClr">
                <a:tint val="100000"/>
                <a:shade val="67000"/>
                <a:satMod val="14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5000"/>
              </a:schemeClr>
              <a:schemeClr val="phClr">
                <a:shade val="92000"/>
                <a:satMod val="115000"/>
              </a:schemeClr>
            </a:duotone>
          </a:blip>
          <a:tile tx="0" ty="0" sx="60000" sy="6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avon" id="{1306E473-ED32-493B-A2D0-240A757EDD34}" vid="{C20BADFE-D095-436F-9677-9264042809F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{CC69DF0E-8EC4-4447-A8B5-8BE61BBB45C6}TF77a67a13-02ae-4296-8148-f26bdaaf38f15d531602-3675789a7173</Template>
  <TotalTime>13</TotalTime>
  <Words>263</Words>
  <Application>Microsoft Office PowerPoint</Application>
  <PresentationFormat>Widescreen</PresentationFormat>
  <Paragraphs>23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Algerian</vt:lpstr>
      <vt:lpstr>Century Gothic</vt:lpstr>
      <vt:lpstr>Garamond</vt:lpstr>
      <vt:lpstr>Times New Roman</vt:lpstr>
      <vt:lpstr>Savon</vt:lpstr>
      <vt:lpstr>A metro rail network maps stations and routes to determine reachable stations from a source station. Suggest a suitable data structure for representation</vt:lpstr>
      <vt:lpstr>Abstract</vt:lpstr>
      <vt:lpstr>INTRODUCTION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aarthisreegurunathan@outlook.com</dc:creator>
  <cp:lastModifiedBy>aarthisreegurunathan@outlook.com</cp:lastModifiedBy>
  <cp:revision>1</cp:revision>
  <dcterms:created xsi:type="dcterms:W3CDTF">2026-07-28T16:59:13Z</dcterms:created>
  <dcterms:modified xsi:type="dcterms:W3CDTF">2026-07-28T17:12:49Z</dcterms:modified>
</cp:coreProperties>
</file>